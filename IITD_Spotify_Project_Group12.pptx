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13"/>
  </p:notesMasterIdLst>
  <p:sldIdLst>
    <p:sldId id="256" r:id="rId2"/>
    <p:sldId id="257" r:id="rId3"/>
    <p:sldId id="268" r:id="rId4"/>
    <p:sldId id="258" r:id="rId5"/>
    <p:sldId id="259" r:id="rId6"/>
    <p:sldId id="261" r:id="rId7"/>
    <p:sldId id="267" r:id="rId8"/>
    <p:sldId id="269" r:id="rId9"/>
    <p:sldId id="270" r:id="rId10"/>
    <p:sldId id="271" r:id="rId11"/>
    <p:sldId id="266" r:id="rId12"/>
  </p:sldIdLst>
  <p:sldSz cx="18288000" cy="10287000"/>
  <p:notesSz cx="6858000" cy="9144000"/>
  <p:embeddedFontLst>
    <p:embeddedFont>
      <p:font typeface="Archivo Black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Noto Sans" panose="020B0604020202020204" charset="0"/>
      <p:regular r:id="rId19"/>
      <p:bold r:id="rId20"/>
      <p:italic r:id="rId21"/>
      <p:boldItalic r:id="rId22"/>
    </p:embeddedFont>
    <p:embeddedFont>
      <p:font typeface="Candara" panose="020E050203030302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B22262-EE91-4951-AA39-8F43F4CDB637}">
  <a:tblStyle styleId="{0FB22262-EE91-4951-AA39-8F43F4CDB6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719"/>
  </p:normalViewPr>
  <p:slideViewPr>
    <p:cSldViewPr snapToGrid="0">
      <p:cViewPr>
        <p:scale>
          <a:sx n="66" d="100"/>
          <a:sy n="66" d="100"/>
        </p:scale>
        <p:origin x="768" y="1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4A1603A8-3B36-C493-2CB5-E7C1C3A92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>
            <a:extLst>
              <a:ext uri="{FF2B5EF4-FFF2-40B4-BE49-F238E27FC236}">
                <a16:creationId xmlns:a16="http://schemas.microsoft.com/office/drawing/2014/main" id="{255CDDE6-BA5A-6154-B105-AA9B9F672A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:notes">
            <a:extLst>
              <a:ext uri="{FF2B5EF4-FFF2-40B4-BE49-F238E27FC236}">
                <a16:creationId xmlns:a16="http://schemas.microsoft.com/office/drawing/2014/main" id="{C8A78FBC-B6E8-521D-DB08-A0BED0C1BB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1384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958E073F-1A7A-6E1F-1E2C-32BF67199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>
            <a:extLst>
              <a:ext uri="{FF2B5EF4-FFF2-40B4-BE49-F238E27FC236}">
                <a16:creationId xmlns:a16="http://schemas.microsoft.com/office/drawing/2014/main" id="{C5A47B80-E9C5-DBA4-9BD2-9AA3FAE994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:notes">
            <a:extLst>
              <a:ext uri="{FF2B5EF4-FFF2-40B4-BE49-F238E27FC236}">
                <a16:creationId xmlns:a16="http://schemas.microsoft.com/office/drawing/2014/main" id="{8BF4B12C-FD3B-383D-0291-A6491E1678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0242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subTitle" idx="1"/>
          </p:nvPr>
        </p:nvSpPr>
        <p:spPr>
          <a:xfrm>
            <a:off x="5590675" y="2724175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2990050" y="1254175"/>
            <a:ext cx="11998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>
            <a:spLocks noGrp="1"/>
          </p:cNvSpPr>
          <p:nvPr>
            <p:ph type="body" idx="1"/>
          </p:nvPr>
        </p:nvSpPr>
        <p:spPr>
          <a:xfrm>
            <a:off x="3329400" y="33365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ctrTitle"/>
          </p:nvPr>
        </p:nvSpPr>
        <p:spPr>
          <a:xfrm>
            <a:off x="2973825" y="1254175"/>
            <a:ext cx="11998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body" idx="1"/>
          </p:nvPr>
        </p:nvSpPr>
        <p:spPr>
          <a:xfrm>
            <a:off x="3188813" y="5908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28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2800"/>
              <a:buNone/>
              <a:defRPr sz="28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2800"/>
              <a:buNone/>
              <a:defRPr sz="28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2800"/>
              <a:buNone/>
              <a:defRPr sz="28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2800"/>
              <a:buNone/>
              <a:defRPr sz="28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2800"/>
              <a:buNone/>
              <a:defRPr sz="28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2800"/>
              <a:buNone/>
              <a:defRPr sz="28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ctrTitle"/>
          </p:nvPr>
        </p:nvSpPr>
        <p:spPr>
          <a:xfrm>
            <a:off x="2973825" y="1254175"/>
            <a:ext cx="11998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/>
          <p:nvPr/>
        </p:nvSpPr>
        <p:spPr>
          <a:xfrm>
            <a:off x="777407" y="1028700"/>
            <a:ext cx="16725409" cy="8230956"/>
          </a:xfrm>
          <a:custGeom>
            <a:avLst/>
            <a:gdLst/>
            <a:ahLst/>
            <a:cxnLst/>
            <a:rect l="l" t="t" r="r" b="b"/>
            <a:pathLst>
              <a:path w="4404321" h="2167467" extrusionOk="0">
                <a:moveTo>
                  <a:pt x="0" y="0"/>
                </a:moveTo>
                <a:lnTo>
                  <a:pt x="4404321" y="0"/>
                </a:lnTo>
                <a:lnTo>
                  <a:pt x="4404321" y="2167467"/>
                </a:lnTo>
                <a:lnTo>
                  <a:pt x="0" y="216746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 cmpd="sng">
            <a:solidFill>
              <a:srgbClr val="71CBEF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0" name="Google Shape;20;p6"/>
          <p:cNvSpPr txBox="1">
            <a:spLocks noGrp="1"/>
          </p:cNvSpPr>
          <p:nvPr>
            <p:ph type="body" idx="1"/>
          </p:nvPr>
        </p:nvSpPr>
        <p:spPr>
          <a:xfrm>
            <a:off x="4497775" y="343385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body" idx="2"/>
          </p:nvPr>
        </p:nvSpPr>
        <p:spPr>
          <a:xfrm>
            <a:off x="8688775" y="343385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55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marL="2286000" lvl="4" indent="-355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marL="2743200" lvl="5" indent="-355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marL="3200400" lvl="6" indent="-355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marL="3657600" lvl="7" indent="-355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marL="4114800" lvl="8" indent="-355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ctrTitle"/>
          </p:nvPr>
        </p:nvSpPr>
        <p:spPr>
          <a:xfrm>
            <a:off x="2973825" y="1254175"/>
            <a:ext cx="11998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ctrTitle"/>
          </p:nvPr>
        </p:nvSpPr>
        <p:spPr>
          <a:xfrm>
            <a:off x="2973825" y="1254175"/>
            <a:ext cx="11998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8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27" name="Google Shape;27;p8"/>
            <p:cNvSpPr/>
            <p:nvPr/>
          </p:nvSpPr>
          <p:spPr>
            <a:xfrm rot="5400000">
              <a:off x="8503696" y="-8503696"/>
              <a:ext cx="7376608" cy="24384000"/>
            </a:xfrm>
            <a:custGeom>
              <a:avLst/>
              <a:gdLst/>
              <a:ahLst/>
              <a:cxnLst/>
              <a:rect l="l" t="t" r="r" b="b"/>
              <a:pathLst>
                <a:path w="7376608" h="24384000" extrusionOk="0">
                  <a:moveTo>
                    <a:pt x="0" y="0"/>
                  </a:moveTo>
                  <a:lnTo>
                    <a:pt x="7376608" y="0"/>
                  </a:lnTo>
                  <a:lnTo>
                    <a:pt x="7376608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l="-25547" r="-204997"/>
              </a:stretch>
            </a:blipFill>
            <a:ln>
              <a:noFill/>
            </a:ln>
          </p:spPr>
        </p:sp>
        <p:sp>
          <p:nvSpPr>
            <p:cNvPr id="28" name="Google Shape;28;p8"/>
            <p:cNvSpPr/>
            <p:nvPr/>
          </p:nvSpPr>
          <p:spPr>
            <a:xfrm rot="5400000" flipH="1">
              <a:off x="9022304" y="-1645696"/>
              <a:ext cx="6339392" cy="24384000"/>
            </a:xfrm>
            <a:custGeom>
              <a:avLst/>
              <a:gdLst/>
              <a:ahLst/>
              <a:cxnLst/>
              <a:rect l="l" t="t" r="r" b="b"/>
              <a:pathLst>
                <a:path w="6339392" h="24384000" extrusionOk="0">
                  <a:moveTo>
                    <a:pt x="0" y="24384000"/>
                  </a:moveTo>
                  <a:lnTo>
                    <a:pt x="6339392" y="24384000"/>
                  </a:lnTo>
                  <a:lnTo>
                    <a:pt x="6339392" y="0"/>
                  </a:lnTo>
                  <a:lnTo>
                    <a:pt x="0" y="0"/>
                  </a:lnTo>
                  <a:lnTo>
                    <a:pt x="0" y="2438400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l="-29726" r="-254888"/>
              </a:stretch>
            </a:blipFill>
            <a:ln>
              <a:noFill/>
            </a:ln>
          </p:spPr>
        </p:sp>
      </p:grpSp>
      <p:sp>
        <p:nvSpPr>
          <p:cNvPr id="29" name="Google Shape;29;p8"/>
          <p:cNvSpPr/>
          <p:nvPr/>
        </p:nvSpPr>
        <p:spPr>
          <a:xfrm>
            <a:off x="770278" y="978858"/>
            <a:ext cx="16771192" cy="8593239"/>
          </a:xfrm>
          <a:custGeom>
            <a:avLst/>
            <a:gdLst/>
            <a:ahLst/>
            <a:cxnLst/>
            <a:rect l="l" t="t" r="r" b="b"/>
            <a:pathLst>
              <a:path w="4417075" h="2263225" extrusionOk="0">
                <a:moveTo>
                  <a:pt x="0" y="0"/>
                </a:moveTo>
                <a:lnTo>
                  <a:pt x="4417075" y="0"/>
                </a:lnTo>
                <a:lnTo>
                  <a:pt x="4417075" y="2263225"/>
                </a:lnTo>
                <a:lnTo>
                  <a:pt x="0" y="2263225"/>
                </a:lnTo>
                <a:close/>
              </a:path>
            </a:pathLst>
          </a:custGeom>
          <a:solidFill>
            <a:srgbClr val="0F1A38"/>
          </a:solidFill>
          <a:ln>
            <a:noFill/>
          </a:ln>
        </p:spPr>
      </p:sp>
      <p:sp>
        <p:nvSpPr>
          <p:cNvPr id="30" name="Google Shape;30;p8"/>
          <p:cNvSpPr/>
          <p:nvPr/>
        </p:nvSpPr>
        <p:spPr>
          <a:xfrm>
            <a:off x="1293927" y="1470225"/>
            <a:ext cx="15657436" cy="7608616"/>
          </a:xfrm>
          <a:custGeom>
            <a:avLst/>
            <a:gdLst/>
            <a:ahLst/>
            <a:cxnLst/>
            <a:rect l="l" t="t" r="r" b="b"/>
            <a:pathLst>
              <a:path w="4123742" h="2003902" extrusionOk="0">
                <a:moveTo>
                  <a:pt x="0" y="0"/>
                </a:moveTo>
                <a:lnTo>
                  <a:pt x="4123742" y="0"/>
                </a:lnTo>
                <a:lnTo>
                  <a:pt x="4123742" y="2003902"/>
                </a:lnTo>
                <a:lnTo>
                  <a:pt x="0" y="200390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 cmpd="sng">
            <a:solidFill>
              <a:srgbClr val="71CBEF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4013175" y="371910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9384350" y="371910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ctrTitle"/>
          </p:nvPr>
        </p:nvSpPr>
        <p:spPr>
          <a:xfrm>
            <a:off x="2876450" y="1778550"/>
            <a:ext cx="11998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1467738" y="2707275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>
            <a:spLocks noGrp="1"/>
          </p:cNvSpPr>
          <p:nvPr>
            <p:ph type="pic" idx="2"/>
          </p:nvPr>
        </p:nvSpPr>
        <p:spPr>
          <a:xfrm>
            <a:off x="10976863" y="23490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1662463" y="4004013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069750" y="1313200"/>
            <a:ext cx="11561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chivo Black"/>
              <a:buNone/>
              <a:defRPr sz="440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329400" y="33365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Noto Sans"/>
              <a:buChar char="•"/>
              <a:defRPr sz="32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"/>
              <a:buChar char="–"/>
              <a:defRPr sz="28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"/>
              <a:buChar char="•"/>
              <a:defRPr sz="24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–"/>
              <a:defRPr sz="20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»"/>
              <a:defRPr sz="20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•"/>
              <a:defRPr sz="20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•"/>
              <a:defRPr sz="20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•"/>
              <a:defRPr sz="20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•"/>
              <a:defRPr sz="20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/>
        </p:nvSpPr>
        <p:spPr>
          <a:xfrm>
            <a:off x="16414828" y="0"/>
            <a:ext cx="11323471" cy="10287000"/>
          </a:xfrm>
          <a:custGeom>
            <a:avLst/>
            <a:gdLst/>
            <a:ahLst/>
            <a:cxnLst/>
            <a:rect l="l" t="t" r="r" b="b"/>
            <a:pathLst>
              <a:path w="11323471" h="10287000" extrusionOk="0">
                <a:moveTo>
                  <a:pt x="0" y="0"/>
                </a:moveTo>
                <a:lnTo>
                  <a:pt x="11323471" y="0"/>
                </a:lnTo>
                <a:lnTo>
                  <a:pt x="1132347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8701" r="-6656" b="-870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Google Shape;43;p10"/>
          <p:cNvSpPr/>
          <p:nvPr/>
        </p:nvSpPr>
        <p:spPr>
          <a:xfrm>
            <a:off x="8863025" y="5988797"/>
            <a:ext cx="6420159" cy="3402684"/>
          </a:xfrm>
          <a:custGeom>
            <a:avLst/>
            <a:gdLst/>
            <a:ahLst/>
            <a:cxnLst/>
            <a:rect l="l" t="t" r="r" b="b"/>
            <a:pathLst>
              <a:path w="6420159" h="3402684" extrusionOk="0">
                <a:moveTo>
                  <a:pt x="0" y="0"/>
                </a:moveTo>
                <a:lnTo>
                  <a:pt x="6420159" y="0"/>
                </a:lnTo>
                <a:lnTo>
                  <a:pt x="6420159" y="3402684"/>
                </a:lnTo>
                <a:lnTo>
                  <a:pt x="0" y="34026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320B716-810C-DAB7-A77E-1E925F8AE15C}"/>
              </a:ext>
            </a:extLst>
          </p:cNvPr>
          <p:cNvGrpSpPr/>
          <p:nvPr/>
        </p:nvGrpSpPr>
        <p:grpSpPr>
          <a:xfrm>
            <a:off x="-289530" y="1490089"/>
            <a:ext cx="10418885" cy="8434331"/>
            <a:chOff x="220679" y="1314243"/>
            <a:chExt cx="10418885" cy="8434331"/>
          </a:xfrm>
        </p:grpSpPr>
        <p:grpSp>
          <p:nvGrpSpPr>
            <p:cNvPr id="44" name="Google Shape;44;p10"/>
            <p:cNvGrpSpPr/>
            <p:nvPr/>
          </p:nvGrpSpPr>
          <p:grpSpPr>
            <a:xfrm>
              <a:off x="1090667" y="6481712"/>
              <a:ext cx="8614516" cy="3266862"/>
              <a:chOff x="5924" y="340636"/>
              <a:chExt cx="823541" cy="860425"/>
            </a:xfrm>
          </p:grpSpPr>
          <p:sp>
            <p:nvSpPr>
              <p:cNvPr id="45" name="Google Shape;45;p10"/>
              <p:cNvSpPr/>
              <p:nvPr/>
            </p:nvSpPr>
            <p:spPr>
              <a:xfrm>
                <a:off x="5924" y="609713"/>
                <a:ext cx="812800" cy="4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2302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42302"/>
                    </a:lnTo>
                    <a:lnTo>
                      <a:pt x="0" y="42302"/>
                    </a:lnTo>
                    <a:close/>
                  </a:path>
                </a:pathLst>
              </a:custGeom>
              <a:solidFill>
                <a:srgbClr val="2D5B8F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Google Shape;46;p10"/>
              <p:cNvSpPr txBox="1"/>
              <p:nvPr/>
            </p:nvSpPr>
            <p:spPr>
              <a:xfrm>
                <a:off x="16665" y="340636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0" name="Google Shape;50;p10"/>
            <p:cNvSpPr txBox="1"/>
            <p:nvPr/>
          </p:nvSpPr>
          <p:spPr>
            <a:xfrm>
              <a:off x="220679" y="1314243"/>
              <a:ext cx="10418885" cy="13542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n-IN" sz="8800" dirty="0" smtClean="0">
                  <a:solidFill>
                    <a:srgbClr val="FFFFFF"/>
                  </a:solidFill>
                  <a:latin typeface="Archivo Black"/>
                </a:rPr>
                <a:t>S</a:t>
              </a:r>
              <a:r>
                <a:rPr lang="en-IN" sz="7200" dirty="0" smtClean="0">
                  <a:solidFill>
                    <a:srgbClr val="FFFFFF"/>
                  </a:solidFill>
                  <a:latin typeface="Archivo Black"/>
                </a:rPr>
                <a:t>potifier</a:t>
              </a:r>
              <a:endParaRPr lang="en-IN" sz="7200" dirty="0">
                <a:solidFill>
                  <a:srgbClr val="FFFFFF"/>
                </a:solidFill>
                <a:latin typeface="Archivo Black"/>
              </a:endParaRPr>
            </a:p>
          </p:txBody>
        </p:sp>
        <p:sp>
          <p:nvSpPr>
            <p:cNvPr id="51" name="Google Shape;51;p10"/>
            <p:cNvSpPr txBox="1"/>
            <p:nvPr/>
          </p:nvSpPr>
          <p:spPr>
            <a:xfrm>
              <a:off x="3025978" y="2874871"/>
              <a:ext cx="4799432" cy="1625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lang="en-US" sz="2400" dirty="0">
                  <a:solidFill>
                    <a:srgbClr val="71CBEF"/>
                  </a:solidFill>
                  <a:latin typeface="Noto Sans"/>
                  <a:ea typeface="Noto Sans"/>
                  <a:cs typeface="Noto Sans"/>
                </a:rPr>
                <a:t>Team Name        :  </a:t>
              </a:r>
              <a:r>
                <a:rPr lang="en-US" sz="2400" dirty="0" smtClean="0">
                  <a:solidFill>
                    <a:srgbClr val="71CBEF"/>
                  </a:solidFill>
                  <a:latin typeface="Noto Sans"/>
                  <a:ea typeface="Noto Sans"/>
                  <a:cs typeface="Noto Sans"/>
                </a:rPr>
                <a:t>IITD Group12</a:t>
              </a:r>
              <a:endParaRPr lang="en-US" sz="2400" dirty="0">
                <a:solidFill>
                  <a:srgbClr val="71CBEF"/>
                </a:solidFill>
                <a:latin typeface="Noto Sans"/>
                <a:ea typeface="Noto Sans"/>
                <a:cs typeface="Noto Sans"/>
              </a:endParaRPr>
            </a:p>
            <a:p>
              <a:endParaRPr lang="en-US" sz="2400" dirty="0">
                <a:solidFill>
                  <a:srgbClr val="71CBEF"/>
                </a:solidFill>
                <a:latin typeface="Noto Sans"/>
                <a:ea typeface="Noto Sans"/>
                <a:cs typeface="Noto Sans"/>
              </a:endParaRPr>
            </a:p>
            <a:p>
              <a:endParaRPr lang="en-US" sz="2400" dirty="0">
                <a:solidFill>
                  <a:srgbClr val="71CBEF"/>
                </a:solidFill>
                <a:latin typeface="Noto Sans"/>
                <a:ea typeface="Noto Sans"/>
                <a:cs typeface="Noto Sans"/>
              </a:endParaRPr>
            </a:p>
            <a:p>
              <a:pPr marL="0" marR="0" lvl="0" indent="0" algn="l" rtl="0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</p:grpSp>
      <p:pic>
        <p:nvPicPr>
          <p:cNvPr id="52" name="Google Shape;5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79626" y="0"/>
            <a:ext cx="9081226" cy="105291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271902"/>
              </p:ext>
            </p:extLst>
          </p:nvPr>
        </p:nvGraphicFramePr>
        <p:xfrm>
          <a:off x="2745564" y="4239591"/>
          <a:ext cx="4171950" cy="2560320"/>
        </p:xfrm>
        <a:graphic>
          <a:graphicData uri="http://schemas.openxmlformats.org/drawingml/2006/table">
            <a:tbl>
              <a:tblPr/>
              <a:tblGrid>
                <a:gridCol w="2085975">
                  <a:extLst>
                    <a:ext uri="{9D8B030D-6E8A-4147-A177-3AD203B41FA5}">
                      <a16:colId xmlns:a16="http://schemas.microsoft.com/office/drawing/2014/main" val="2034243061"/>
                    </a:ext>
                  </a:extLst>
                </a:gridCol>
                <a:gridCol w="2085975">
                  <a:extLst>
                    <a:ext uri="{9D8B030D-6E8A-4147-A177-3AD203B41FA5}">
                      <a16:colId xmlns:a16="http://schemas.microsoft.com/office/drawing/2014/main" val="1393343414"/>
                    </a:ext>
                  </a:extLst>
                </a:gridCol>
              </a:tblGrid>
              <a:tr h="266700">
                <a:tc rowSpan="8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</a:rPr>
                        <a:t>Group-12</a:t>
                      </a:r>
                      <a:endParaRPr lang="en-US" dirty="0"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Ankita Maheshwari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995860"/>
                  </a:ext>
                </a:extLst>
              </a:tr>
              <a:tr h="266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ASHISH KUMAR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601355"/>
                  </a:ext>
                </a:extLst>
              </a:tr>
              <a:tr h="266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Devi Vara Prasad Mandalapu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157806"/>
                  </a:ext>
                </a:extLst>
              </a:tr>
              <a:tr h="266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Labony Pal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84170"/>
                  </a:ext>
                </a:extLst>
              </a:tr>
              <a:tr h="266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Nischay Bagusetty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740286"/>
                  </a:ext>
                </a:extLst>
              </a:tr>
              <a:tr h="4953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RAJEEV LOCHAN VASHISHTH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030619"/>
                  </a:ext>
                </a:extLst>
              </a:tr>
              <a:tr h="266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Shreyansh 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071391"/>
                  </a:ext>
                </a:extLst>
              </a:tr>
              <a:tr h="266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Susan Abraham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7585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1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8" name="Google Shape;58;p11"/>
            <p:cNvSpPr/>
            <p:nvPr/>
          </p:nvSpPr>
          <p:spPr>
            <a:xfrm rot="5400000">
              <a:off x="8503696" y="-8503696"/>
              <a:ext cx="7376608" cy="24384000"/>
            </a:xfrm>
            <a:custGeom>
              <a:avLst/>
              <a:gdLst/>
              <a:ahLst/>
              <a:cxnLst/>
              <a:rect l="l" t="t" r="r" b="b"/>
              <a:pathLst>
                <a:path w="7376608" h="24384000" extrusionOk="0">
                  <a:moveTo>
                    <a:pt x="0" y="0"/>
                  </a:moveTo>
                  <a:lnTo>
                    <a:pt x="7376608" y="0"/>
                  </a:lnTo>
                  <a:lnTo>
                    <a:pt x="7376608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5548" r="-205007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Google Shape;59;p11"/>
            <p:cNvSpPr/>
            <p:nvPr/>
          </p:nvSpPr>
          <p:spPr>
            <a:xfrm rot="5400000" flipH="1">
              <a:off x="9022304" y="-1645696"/>
              <a:ext cx="6339392" cy="24384000"/>
            </a:xfrm>
            <a:custGeom>
              <a:avLst/>
              <a:gdLst/>
              <a:ahLst/>
              <a:cxnLst/>
              <a:rect l="l" t="t" r="r" b="b"/>
              <a:pathLst>
                <a:path w="6339392" h="24384000" extrusionOk="0">
                  <a:moveTo>
                    <a:pt x="0" y="24384000"/>
                  </a:moveTo>
                  <a:lnTo>
                    <a:pt x="6339392" y="24384000"/>
                  </a:lnTo>
                  <a:lnTo>
                    <a:pt x="6339392" y="0"/>
                  </a:lnTo>
                  <a:lnTo>
                    <a:pt x="0" y="0"/>
                  </a:lnTo>
                  <a:lnTo>
                    <a:pt x="0" y="2438400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9726" r="-254888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" name="Google Shape;60;p11"/>
          <p:cNvGrpSpPr/>
          <p:nvPr/>
        </p:nvGrpSpPr>
        <p:grpSpPr>
          <a:xfrm>
            <a:off x="758458" y="798913"/>
            <a:ext cx="16951192" cy="8799383"/>
            <a:chOff x="0" y="-47625"/>
            <a:chExt cx="4464511" cy="2317533"/>
          </a:xfrm>
        </p:grpSpPr>
        <p:sp>
          <p:nvSpPr>
            <p:cNvPr id="61" name="Google Shape;61;p11"/>
            <p:cNvSpPr/>
            <p:nvPr/>
          </p:nvSpPr>
          <p:spPr>
            <a:xfrm>
              <a:off x="47436" y="6683"/>
              <a:ext cx="4417075" cy="2263225"/>
            </a:xfrm>
            <a:custGeom>
              <a:avLst/>
              <a:gdLst/>
              <a:ahLst/>
              <a:cxnLst/>
              <a:rect l="l" t="t" r="r" b="b"/>
              <a:pathLst>
                <a:path w="4417075" h="2263225" extrusionOk="0">
                  <a:moveTo>
                    <a:pt x="0" y="0"/>
                  </a:moveTo>
                  <a:lnTo>
                    <a:pt x="4417075" y="0"/>
                  </a:lnTo>
                  <a:lnTo>
                    <a:pt x="4417075" y="2263225"/>
                  </a:lnTo>
                  <a:lnTo>
                    <a:pt x="0" y="2263225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Google Shape;62;p11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" name="Google Shape;66;p11"/>
          <p:cNvSpPr txBox="1"/>
          <p:nvPr/>
        </p:nvSpPr>
        <p:spPr>
          <a:xfrm>
            <a:off x="2443844" y="1445867"/>
            <a:ext cx="6133997" cy="880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71CBEF"/>
                </a:solidFill>
                <a:latin typeface="Noto Sans"/>
                <a:ea typeface="Noto Sans"/>
                <a:cs typeface="Noto Sans"/>
                <a:sym typeface="Noto Sans"/>
              </a:rPr>
              <a:t>Problem Statement</a:t>
            </a:r>
            <a:endParaRPr sz="4400" dirty="0"/>
          </a:p>
        </p:txBody>
      </p:sp>
      <p:sp>
        <p:nvSpPr>
          <p:cNvPr id="69" name="Google Shape;69;p11"/>
          <p:cNvSpPr txBox="1"/>
          <p:nvPr/>
        </p:nvSpPr>
        <p:spPr>
          <a:xfrm>
            <a:off x="11200825" y="1885987"/>
            <a:ext cx="5141301" cy="880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4400" b="1" dirty="0">
                <a:solidFill>
                  <a:srgbClr val="71CBEF"/>
                </a:solidFill>
                <a:latin typeface="Noto Sans"/>
                <a:ea typeface="Noto Sans"/>
                <a:cs typeface="Noto Sans"/>
                <a:sym typeface="Noto Sans"/>
              </a:rPr>
              <a:t>Proposed Solution</a:t>
            </a:r>
            <a:endParaRPr sz="4400" b="1" dirty="0">
              <a:solidFill>
                <a:srgbClr val="71CBEF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545482" y="2317086"/>
            <a:ext cx="668857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🎯 Objective: Build ML models to predict song popularity on Spotify</a:t>
            </a:r>
            <a:endParaRPr lang="en-US" dirty="0">
              <a:solidFill>
                <a:schemeClr val="accent5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046" y="2753893"/>
            <a:ext cx="9045543" cy="564790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00825" y="2999446"/>
            <a:ext cx="5750744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71CBEF"/>
                </a:solidFill>
                <a:latin typeface="Noto Sans"/>
                <a:ea typeface="Noto Sans"/>
                <a:cs typeface="Noto Sans"/>
              </a:rPr>
              <a:t> 📊 Enhanced Implementation:</a:t>
            </a:r>
          </a:p>
          <a:p>
            <a:r>
              <a:rPr lang="en-US" dirty="0" smtClean="0"/>
              <a:t>    </a:t>
            </a:r>
            <a:r>
              <a:rPr lang="en-US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• EDA, 5 Different Regression Algorithms and MLP (NN) model Implemented</a:t>
            </a:r>
          </a:p>
          <a:p>
            <a:r>
              <a:rPr lang="en-US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Comprehensive </a:t>
            </a:r>
            <a:r>
              <a:rPr lang="en-US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Model Comparison &amp; Evaluation</a:t>
            </a:r>
          </a:p>
          <a:p>
            <a:r>
              <a:rPr lang="en-US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    • Interactive Multi-Model Web </a:t>
            </a:r>
            <a:r>
              <a:rPr lang="en-US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Application using </a:t>
            </a:r>
            <a:r>
              <a:rPr lang="en-US" dirty="0" err="1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streamlit</a:t>
            </a:r>
            <a:endParaRPr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  <a:p>
            <a:r>
              <a:rPr lang="en-US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    • </a:t>
            </a:r>
            <a:r>
              <a:rPr lang="en-US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Feature Importance &amp; Cross-Validation </a:t>
            </a:r>
            <a:r>
              <a:rPr lang="en-US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Performance </a:t>
            </a:r>
            <a:r>
              <a:rPr lang="en-US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Analysis</a:t>
            </a:r>
            <a:endParaRPr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  <a:p>
            <a:r>
              <a:rPr lang="en-US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    </a:t>
            </a:r>
          </a:p>
          <a:p>
            <a:r>
              <a:rPr lang="en-US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    🎵 Target Variable: Popularity score (0-100) based on </a:t>
            </a:r>
            <a:r>
              <a:rPr lang="en-US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recent </a:t>
            </a:r>
            <a:r>
              <a:rPr lang="en-US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plays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54524" y="3222835"/>
            <a:ext cx="5024245" cy="2094754"/>
          </a:xfrm>
        </p:spPr>
        <p:txBody>
          <a:bodyPr>
            <a:normAutofit/>
          </a:bodyPr>
          <a:lstStyle/>
          <a:p>
            <a:r>
              <a:rPr lang="en-US" dirty="0"/>
              <a:t>1</a:t>
            </a:r>
            <a:r>
              <a:rPr lang="en-US" sz="1800" dirty="0"/>
              <a:t>. 📈 Linear Regression</a:t>
            </a:r>
          </a:p>
          <a:p>
            <a:r>
              <a:rPr lang="en-US" sz="1800" dirty="0"/>
              <a:t>       • Basic linear relationship assumption</a:t>
            </a:r>
          </a:p>
          <a:p>
            <a:r>
              <a:rPr lang="en-US" sz="1800" dirty="0"/>
              <a:t>       • Fast training and prediction</a:t>
            </a:r>
          </a:p>
          <a:p>
            <a:r>
              <a:rPr lang="en-US" sz="1800" dirty="0"/>
              <a:t>       • Baseline model for comparison</a:t>
            </a:r>
          </a:p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128455" y="3433850"/>
            <a:ext cx="5632136" cy="1883739"/>
          </a:xfrm>
        </p:spPr>
        <p:txBody>
          <a:bodyPr>
            <a:normAutofit/>
          </a:bodyPr>
          <a:lstStyle/>
          <a:p>
            <a:r>
              <a:rPr lang="en-US" sz="1800" dirty="0"/>
              <a:t> 2. 🔄 Ridge Regression (L2 Regularization)</a:t>
            </a:r>
          </a:p>
          <a:p>
            <a:r>
              <a:rPr lang="en-US" sz="1800" dirty="0"/>
              <a:t>       • Prevents overfitting with penalty term</a:t>
            </a:r>
          </a:p>
          <a:p>
            <a:r>
              <a:rPr lang="en-US" sz="1800" dirty="0"/>
              <a:t>       • Handles </a:t>
            </a:r>
            <a:r>
              <a:rPr lang="en-US" sz="1800" dirty="0" err="1"/>
              <a:t>multicollinearity</a:t>
            </a:r>
            <a:r>
              <a:rPr lang="en-US" sz="1800" dirty="0"/>
              <a:t> better</a:t>
            </a:r>
          </a:p>
          <a:p>
            <a:r>
              <a:rPr lang="en-US" sz="1800" dirty="0"/>
              <a:t>       • Shrinks coefficients towards zero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Regression Models Implemented</a:t>
            </a:r>
            <a:endParaRPr lang="en-US" dirty="0"/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11626578" y="3433849"/>
            <a:ext cx="5632136" cy="1883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–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–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»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r>
              <a:rPr lang="en-US" sz="1800" dirty="0"/>
              <a:t>3. 🎯 Lasso Regression (L1 Regularization)</a:t>
            </a:r>
          </a:p>
          <a:p>
            <a:r>
              <a:rPr lang="en-US" sz="1800" dirty="0"/>
              <a:t>       • Automatic feature selection capability</a:t>
            </a:r>
          </a:p>
          <a:p>
            <a:r>
              <a:rPr lang="en-US" sz="1800" dirty="0"/>
              <a:t>       • Sparse solutions (some coefficients = 0)</a:t>
            </a:r>
          </a:p>
          <a:p>
            <a:r>
              <a:rPr lang="en-US" sz="1800" dirty="0"/>
              <a:t>       • Good for high-dimensional data</a:t>
            </a:r>
            <a:endParaRPr lang="en-US" sz="1800" dirty="0"/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954524" y="6245042"/>
            <a:ext cx="5632136" cy="1883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–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–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»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r>
              <a:rPr lang="en-US" sz="1800" dirty="0"/>
              <a:t>4. 🌳 Random Forest Regressor ⭐ WINNER</a:t>
            </a:r>
          </a:p>
          <a:p>
            <a:r>
              <a:rPr lang="en-US" sz="1800" dirty="0"/>
              <a:t>       • Ensemble of 100 decision trees</a:t>
            </a:r>
          </a:p>
          <a:p>
            <a:r>
              <a:rPr lang="en-US" sz="1800" dirty="0"/>
              <a:t>       • Captures non-linear relationships</a:t>
            </a:r>
          </a:p>
          <a:p>
            <a:r>
              <a:rPr lang="en-US" sz="1800" dirty="0"/>
              <a:t>       • Handles feature interactions naturally</a:t>
            </a:r>
          </a:p>
        </p:txBody>
      </p:sp>
      <p:sp>
        <p:nvSpPr>
          <p:cNvPr id="8" name="Text Placeholder 2"/>
          <p:cNvSpPr txBox="1">
            <a:spLocks/>
          </p:cNvSpPr>
          <p:nvPr/>
        </p:nvSpPr>
        <p:spPr>
          <a:xfrm>
            <a:off x="6902813" y="6245041"/>
            <a:ext cx="5632136" cy="1883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–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–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»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r>
              <a:rPr lang="en-US" sz="1800" dirty="0"/>
              <a:t> 5. 🚀 </a:t>
            </a:r>
            <a:r>
              <a:rPr lang="en-US" sz="1800" dirty="0" err="1"/>
              <a:t>XGBoost</a:t>
            </a:r>
            <a:r>
              <a:rPr lang="en-US" sz="1800" dirty="0"/>
              <a:t> Regressor</a:t>
            </a:r>
          </a:p>
          <a:p>
            <a:r>
              <a:rPr lang="en-US" sz="1800" dirty="0"/>
              <a:t>       • Gradient boosting algorithm</a:t>
            </a:r>
          </a:p>
          <a:p>
            <a:r>
              <a:rPr lang="en-US" sz="1800" dirty="0"/>
              <a:t>       • Advanced ensemble method</a:t>
            </a:r>
          </a:p>
          <a:p>
            <a:r>
              <a:rPr lang="en-US" sz="1800" dirty="0"/>
              <a:t>       • Often wins ML competitions</a:t>
            </a:r>
          </a:p>
        </p:txBody>
      </p:sp>
      <p:sp>
        <p:nvSpPr>
          <p:cNvPr id="10" name="Text Placeholder 2"/>
          <p:cNvSpPr txBox="1">
            <a:spLocks/>
          </p:cNvSpPr>
          <p:nvPr/>
        </p:nvSpPr>
        <p:spPr>
          <a:xfrm>
            <a:off x="11760591" y="6245041"/>
            <a:ext cx="5632136" cy="1883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–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–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»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r>
              <a:rPr lang="en-US" sz="1800" dirty="0"/>
              <a:t> </a:t>
            </a:r>
            <a:r>
              <a:rPr lang="en-US" sz="1800" dirty="0" smtClean="0"/>
              <a:t>6.  MLP Regressor</a:t>
            </a:r>
            <a:endParaRPr lang="en-US" sz="1800" dirty="0"/>
          </a:p>
          <a:p>
            <a:r>
              <a:rPr lang="en-US" sz="1800" dirty="0"/>
              <a:t>       • </a:t>
            </a:r>
            <a:r>
              <a:rPr lang="en-US" sz="1800" dirty="0" smtClean="0"/>
              <a:t>Deep Neural network </a:t>
            </a:r>
          </a:p>
          <a:p>
            <a:r>
              <a:rPr lang="en-US" sz="1800" dirty="0"/>
              <a:t> </a:t>
            </a:r>
            <a:r>
              <a:rPr lang="en-US" sz="1800" dirty="0" smtClean="0"/>
              <a:t>      • Hidden layers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53924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1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77" name="Google Shape;77;p12"/>
            <p:cNvSpPr/>
            <p:nvPr/>
          </p:nvSpPr>
          <p:spPr>
            <a:xfrm rot="5400000">
              <a:off x="8503696" y="-8503696"/>
              <a:ext cx="7376608" cy="24384000"/>
            </a:xfrm>
            <a:custGeom>
              <a:avLst/>
              <a:gdLst/>
              <a:ahLst/>
              <a:cxnLst/>
              <a:rect l="l" t="t" r="r" b="b"/>
              <a:pathLst>
                <a:path w="7376608" h="24384000" extrusionOk="0">
                  <a:moveTo>
                    <a:pt x="0" y="0"/>
                  </a:moveTo>
                  <a:lnTo>
                    <a:pt x="7376608" y="0"/>
                  </a:lnTo>
                  <a:lnTo>
                    <a:pt x="7376608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5548" r="-205007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Google Shape;78;p12"/>
            <p:cNvSpPr/>
            <p:nvPr/>
          </p:nvSpPr>
          <p:spPr>
            <a:xfrm rot="5400000" flipH="1">
              <a:off x="9022304" y="-1645696"/>
              <a:ext cx="6339392" cy="24384000"/>
            </a:xfrm>
            <a:custGeom>
              <a:avLst/>
              <a:gdLst/>
              <a:ahLst/>
              <a:cxnLst/>
              <a:rect l="l" t="t" r="r" b="b"/>
              <a:pathLst>
                <a:path w="6339392" h="24384000" extrusionOk="0">
                  <a:moveTo>
                    <a:pt x="0" y="24384000"/>
                  </a:moveTo>
                  <a:lnTo>
                    <a:pt x="6339392" y="24384000"/>
                  </a:lnTo>
                  <a:lnTo>
                    <a:pt x="6339392" y="0"/>
                  </a:lnTo>
                  <a:lnTo>
                    <a:pt x="0" y="0"/>
                  </a:lnTo>
                  <a:lnTo>
                    <a:pt x="0" y="2438400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9726" r="-254888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9" name="Google Shape;79;p12"/>
          <p:cNvGrpSpPr/>
          <p:nvPr/>
        </p:nvGrpSpPr>
        <p:grpSpPr>
          <a:xfrm>
            <a:off x="770278" y="0"/>
            <a:ext cx="16771083" cy="10002416"/>
            <a:chOff x="0" y="-241102"/>
            <a:chExt cx="22361444" cy="11698677"/>
          </a:xfrm>
        </p:grpSpPr>
        <p:grpSp>
          <p:nvGrpSpPr>
            <p:cNvPr id="80" name="Google Shape;80;p12"/>
            <p:cNvGrpSpPr/>
            <p:nvPr/>
          </p:nvGrpSpPr>
          <p:grpSpPr>
            <a:xfrm>
              <a:off x="0" y="-241102"/>
              <a:ext cx="22361444" cy="11698677"/>
              <a:chOff x="0" y="-47625"/>
              <a:chExt cx="4417075" cy="2310850"/>
            </a:xfrm>
          </p:grpSpPr>
          <p:sp>
            <p:nvSpPr>
              <p:cNvPr id="81" name="Google Shape;81;p12"/>
              <p:cNvSpPr/>
              <p:nvPr/>
            </p:nvSpPr>
            <p:spPr>
              <a:xfrm>
                <a:off x="0" y="0"/>
                <a:ext cx="4417075" cy="2263225"/>
              </a:xfrm>
              <a:custGeom>
                <a:avLst/>
                <a:gdLst/>
                <a:ahLst/>
                <a:cxnLst/>
                <a:rect l="l" t="t" r="r" b="b"/>
                <a:pathLst>
                  <a:path w="4417075" h="2263225" extrusionOk="0">
                    <a:moveTo>
                      <a:pt x="0" y="0"/>
                    </a:moveTo>
                    <a:lnTo>
                      <a:pt x="4417075" y="0"/>
                    </a:lnTo>
                    <a:lnTo>
                      <a:pt x="4417075" y="2263225"/>
                    </a:lnTo>
                    <a:lnTo>
                      <a:pt x="0" y="2263225"/>
                    </a:lnTo>
                    <a:close/>
                  </a:path>
                </a:pathLst>
              </a:custGeom>
              <a:solidFill>
                <a:srgbClr val="0F1A38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Google Shape;82;p12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" name="Google Shape;83;p12"/>
            <p:cNvGrpSpPr/>
            <p:nvPr/>
          </p:nvGrpSpPr>
          <p:grpSpPr>
            <a:xfrm>
              <a:off x="698199" y="414054"/>
              <a:ext cx="20876442" cy="10385854"/>
              <a:chOff x="0" y="-47625"/>
              <a:chExt cx="4123742" cy="2051527"/>
            </a:xfrm>
          </p:grpSpPr>
          <p:sp>
            <p:nvSpPr>
              <p:cNvPr id="84" name="Google Shape;84;p12"/>
              <p:cNvSpPr/>
              <p:nvPr/>
            </p:nvSpPr>
            <p:spPr>
              <a:xfrm>
                <a:off x="0" y="0"/>
                <a:ext cx="4123742" cy="2003902"/>
              </a:xfrm>
              <a:custGeom>
                <a:avLst/>
                <a:gdLst/>
                <a:ahLst/>
                <a:cxnLst/>
                <a:rect l="l" t="t" r="r" b="b"/>
                <a:pathLst>
                  <a:path w="4123742" h="2003902" extrusionOk="0">
                    <a:moveTo>
                      <a:pt x="0" y="0"/>
                    </a:moveTo>
                    <a:lnTo>
                      <a:pt x="4123742" y="0"/>
                    </a:lnTo>
                    <a:lnTo>
                      <a:pt x="4123742" y="2003902"/>
                    </a:lnTo>
                    <a:lnTo>
                      <a:pt x="0" y="200390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 cmpd="sng">
                <a:solidFill>
                  <a:srgbClr val="71CBE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Google Shape;85;p12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604837"/>
            <a:ext cx="16287750" cy="90773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 txBox="1"/>
          <p:nvPr/>
        </p:nvSpPr>
        <p:spPr>
          <a:xfrm>
            <a:off x="1604058" y="2134590"/>
            <a:ext cx="1445554" cy="1376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0F1A38"/>
                </a:solidFill>
                <a:latin typeface="Archivo Black"/>
                <a:ea typeface="Archivo Black"/>
                <a:cs typeface="Archivo Black"/>
                <a:sym typeface="Archivo Black"/>
              </a:rPr>
              <a:t>1</a:t>
            </a:r>
            <a:endParaRPr/>
          </a:p>
        </p:txBody>
      </p:sp>
      <p:grpSp>
        <p:nvGrpSpPr>
          <p:cNvPr id="3" name="Google Shape;79;p12">
            <a:extLst>
              <a:ext uri="{FF2B5EF4-FFF2-40B4-BE49-F238E27FC236}">
                <a16:creationId xmlns:a16="http://schemas.microsoft.com/office/drawing/2014/main" id="{D8D1CD9A-0CF5-C6D0-A182-9F65233B3584}"/>
              </a:ext>
            </a:extLst>
          </p:cNvPr>
          <p:cNvGrpSpPr/>
          <p:nvPr/>
        </p:nvGrpSpPr>
        <p:grpSpPr>
          <a:xfrm>
            <a:off x="602517" y="-436206"/>
            <a:ext cx="17125646" cy="11159412"/>
            <a:chOff x="0" y="-241102"/>
            <a:chExt cx="22361444" cy="11698677"/>
          </a:xfrm>
        </p:grpSpPr>
        <p:grpSp>
          <p:nvGrpSpPr>
            <p:cNvPr id="4" name="Google Shape;80;p12">
              <a:extLst>
                <a:ext uri="{FF2B5EF4-FFF2-40B4-BE49-F238E27FC236}">
                  <a16:creationId xmlns:a16="http://schemas.microsoft.com/office/drawing/2014/main" id="{A265CD0E-81EF-D71F-7502-B5F1DC632B9B}"/>
                </a:ext>
              </a:extLst>
            </p:cNvPr>
            <p:cNvGrpSpPr/>
            <p:nvPr/>
          </p:nvGrpSpPr>
          <p:grpSpPr>
            <a:xfrm>
              <a:off x="0" y="-241102"/>
              <a:ext cx="22361444" cy="11698677"/>
              <a:chOff x="0" y="-47625"/>
              <a:chExt cx="4417075" cy="2310850"/>
            </a:xfrm>
          </p:grpSpPr>
          <p:sp>
            <p:nvSpPr>
              <p:cNvPr id="8" name="Google Shape;81;p12">
                <a:extLst>
                  <a:ext uri="{FF2B5EF4-FFF2-40B4-BE49-F238E27FC236}">
                    <a16:creationId xmlns:a16="http://schemas.microsoft.com/office/drawing/2014/main" id="{FB13EC12-367D-0F1D-A28E-A31CF5157A72}"/>
                  </a:ext>
                </a:extLst>
              </p:cNvPr>
              <p:cNvSpPr/>
              <p:nvPr/>
            </p:nvSpPr>
            <p:spPr>
              <a:xfrm>
                <a:off x="0" y="0"/>
                <a:ext cx="4417075" cy="2263225"/>
              </a:xfrm>
              <a:custGeom>
                <a:avLst/>
                <a:gdLst/>
                <a:ahLst/>
                <a:cxnLst/>
                <a:rect l="l" t="t" r="r" b="b"/>
                <a:pathLst>
                  <a:path w="4417075" h="2263225" extrusionOk="0">
                    <a:moveTo>
                      <a:pt x="0" y="0"/>
                    </a:moveTo>
                    <a:lnTo>
                      <a:pt x="4417075" y="0"/>
                    </a:lnTo>
                    <a:lnTo>
                      <a:pt x="4417075" y="2263225"/>
                    </a:lnTo>
                    <a:lnTo>
                      <a:pt x="0" y="2263225"/>
                    </a:lnTo>
                    <a:close/>
                  </a:path>
                </a:pathLst>
              </a:custGeom>
              <a:solidFill>
                <a:srgbClr val="0F1A38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Google Shape;82;p12">
                <a:extLst>
                  <a:ext uri="{FF2B5EF4-FFF2-40B4-BE49-F238E27FC236}">
                    <a16:creationId xmlns:a16="http://schemas.microsoft.com/office/drawing/2014/main" id="{D5395F45-3E44-C455-0CA1-7E3A45DC98D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" name="Google Shape;83;p12">
              <a:extLst>
                <a:ext uri="{FF2B5EF4-FFF2-40B4-BE49-F238E27FC236}">
                  <a16:creationId xmlns:a16="http://schemas.microsoft.com/office/drawing/2014/main" id="{C2A17C74-B6B9-3D80-6289-5A51A4221FC5}"/>
                </a:ext>
              </a:extLst>
            </p:cNvPr>
            <p:cNvGrpSpPr/>
            <p:nvPr/>
          </p:nvGrpSpPr>
          <p:grpSpPr>
            <a:xfrm>
              <a:off x="698199" y="414054"/>
              <a:ext cx="20876442" cy="10385854"/>
              <a:chOff x="0" y="-47625"/>
              <a:chExt cx="4123742" cy="2051527"/>
            </a:xfrm>
          </p:grpSpPr>
          <p:sp>
            <p:nvSpPr>
              <p:cNvPr id="6" name="Google Shape;84;p12">
                <a:extLst>
                  <a:ext uri="{FF2B5EF4-FFF2-40B4-BE49-F238E27FC236}">
                    <a16:creationId xmlns:a16="http://schemas.microsoft.com/office/drawing/2014/main" id="{45E229DD-5A88-03B7-C4F0-3893C96D7B78}"/>
                  </a:ext>
                </a:extLst>
              </p:cNvPr>
              <p:cNvSpPr/>
              <p:nvPr/>
            </p:nvSpPr>
            <p:spPr>
              <a:xfrm>
                <a:off x="0" y="0"/>
                <a:ext cx="4123742" cy="2003902"/>
              </a:xfrm>
              <a:custGeom>
                <a:avLst/>
                <a:gdLst/>
                <a:ahLst/>
                <a:cxnLst/>
                <a:rect l="l" t="t" r="r" b="b"/>
                <a:pathLst>
                  <a:path w="4123742" h="2003902" extrusionOk="0">
                    <a:moveTo>
                      <a:pt x="0" y="0"/>
                    </a:moveTo>
                    <a:lnTo>
                      <a:pt x="4123742" y="0"/>
                    </a:lnTo>
                    <a:lnTo>
                      <a:pt x="4123742" y="2003902"/>
                    </a:lnTo>
                    <a:lnTo>
                      <a:pt x="0" y="200390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 cmpd="sng">
                <a:solidFill>
                  <a:srgbClr val="71CBE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Google Shape;85;p12">
                <a:extLst>
                  <a:ext uri="{FF2B5EF4-FFF2-40B4-BE49-F238E27FC236}">
                    <a16:creationId xmlns:a16="http://schemas.microsoft.com/office/drawing/2014/main" id="{A9D896A5-0C5B-9A8B-2C6A-52422B7B159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337" y="800100"/>
            <a:ext cx="14411325" cy="8686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99">
          <a:extLst>
            <a:ext uri="{FF2B5EF4-FFF2-40B4-BE49-F238E27FC236}">
              <a16:creationId xmlns:a16="http://schemas.microsoft.com/office/drawing/2014/main" id="{247C6210-F721-EAAC-A1DB-6C6B94C09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>
            <a:extLst>
              <a:ext uri="{FF2B5EF4-FFF2-40B4-BE49-F238E27FC236}">
                <a16:creationId xmlns:a16="http://schemas.microsoft.com/office/drawing/2014/main" id="{51D7A69C-F7B7-8ADD-86B0-ECA01DEDBB85}"/>
              </a:ext>
            </a:extLst>
          </p:cNvPr>
          <p:cNvSpPr txBox="1"/>
          <p:nvPr/>
        </p:nvSpPr>
        <p:spPr>
          <a:xfrm>
            <a:off x="1604058" y="2134590"/>
            <a:ext cx="1445554" cy="1376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0F1A38"/>
                </a:solidFill>
                <a:latin typeface="Archivo Black"/>
                <a:ea typeface="Archivo Black"/>
                <a:cs typeface="Archivo Black"/>
                <a:sym typeface="Archivo Black"/>
              </a:rPr>
              <a:t>1</a:t>
            </a:r>
            <a:endParaRPr/>
          </a:p>
        </p:txBody>
      </p:sp>
      <p:grpSp>
        <p:nvGrpSpPr>
          <p:cNvPr id="3" name="Google Shape;79;p12">
            <a:extLst>
              <a:ext uri="{FF2B5EF4-FFF2-40B4-BE49-F238E27FC236}">
                <a16:creationId xmlns:a16="http://schemas.microsoft.com/office/drawing/2014/main" id="{8867E8C8-8E6B-F79D-C83D-30E4BA75C4F8}"/>
              </a:ext>
            </a:extLst>
          </p:cNvPr>
          <p:cNvGrpSpPr/>
          <p:nvPr/>
        </p:nvGrpSpPr>
        <p:grpSpPr>
          <a:xfrm>
            <a:off x="602517" y="-436206"/>
            <a:ext cx="17125646" cy="11159412"/>
            <a:chOff x="0" y="-241102"/>
            <a:chExt cx="22361444" cy="11698677"/>
          </a:xfrm>
        </p:grpSpPr>
        <p:grpSp>
          <p:nvGrpSpPr>
            <p:cNvPr id="4" name="Google Shape;80;p12">
              <a:extLst>
                <a:ext uri="{FF2B5EF4-FFF2-40B4-BE49-F238E27FC236}">
                  <a16:creationId xmlns:a16="http://schemas.microsoft.com/office/drawing/2014/main" id="{53F23093-3F2A-0C77-7F62-42350E575F76}"/>
                </a:ext>
              </a:extLst>
            </p:cNvPr>
            <p:cNvGrpSpPr/>
            <p:nvPr/>
          </p:nvGrpSpPr>
          <p:grpSpPr>
            <a:xfrm>
              <a:off x="0" y="-241102"/>
              <a:ext cx="22361444" cy="11698677"/>
              <a:chOff x="0" y="-47625"/>
              <a:chExt cx="4417075" cy="2310850"/>
            </a:xfrm>
          </p:grpSpPr>
          <p:sp>
            <p:nvSpPr>
              <p:cNvPr id="8" name="Google Shape;81;p12">
                <a:extLst>
                  <a:ext uri="{FF2B5EF4-FFF2-40B4-BE49-F238E27FC236}">
                    <a16:creationId xmlns:a16="http://schemas.microsoft.com/office/drawing/2014/main" id="{FA358291-2144-1876-A61B-C43E827B008B}"/>
                  </a:ext>
                </a:extLst>
              </p:cNvPr>
              <p:cNvSpPr/>
              <p:nvPr/>
            </p:nvSpPr>
            <p:spPr>
              <a:xfrm>
                <a:off x="0" y="0"/>
                <a:ext cx="4417075" cy="2263225"/>
              </a:xfrm>
              <a:custGeom>
                <a:avLst/>
                <a:gdLst/>
                <a:ahLst/>
                <a:cxnLst/>
                <a:rect l="l" t="t" r="r" b="b"/>
                <a:pathLst>
                  <a:path w="4417075" h="2263225" extrusionOk="0">
                    <a:moveTo>
                      <a:pt x="0" y="0"/>
                    </a:moveTo>
                    <a:lnTo>
                      <a:pt x="4417075" y="0"/>
                    </a:lnTo>
                    <a:lnTo>
                      <a:pt x="4417075" y="2263225"/>
                    </a:lnTo>
                    <a:lnTo>
                      <a:pt x="0" y="2263225"/>
                    </a:lnTo>
                    <a:close/>
                  </a:path>
                </a:pathLst>
              </a:custGeom>
              <a:solidFill>
                <a:srgbClr val="0F1A38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Google Shape;82;p12">
                <a:extLst>
                  <a:ext uri="{FF2B5EF4-FFF2-40B4-BE49-F238E27FC236}">
                    <a16:creationId xmlns:a16="http://schemas.microsoft.com/office/drawing/2014/main" id="{13CAA4FC-4634-F17E-2826-EB2B00F0FDA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" name="Google Shape;83;p12">
              <a:extLst>
                <a:ext uri="{FF2B5EF4-FFF2-40B4-BE49-F238E27FC236}">
                  <a16:creationId xmlns:a16="http://schemas.microsoft.com/office/drawing/2014/main" id="{A1B3D285-FF86-DD53-AA62-4202418176BB}"/>
                </a:ext>
              </a:extLst>
            </p:cNvPr>
            <p:cNvGrpSpPr/>
            <p:nvPr/>
          </p:nvGrpSpPr>
          <p:grpSpPr>
            <a:xfrm>
              <a:off x="698199" y="414054"/>
              <a:ext cx="20876442" cy="10385854"/>
              <a:chOff x="0" y="-47625"/>
              <a:chExt cx="4123742" cy="2051527"/>
            </a:xfrm>
          </p:grpSpPr>
          <p:sp>
            <p:nvSpPr>
              <p:cNvPr id="6" name="Google Shape;84;p12">
                <a:extLst>
                  <a:ext uri="{FF2B5EF4-FFF2-40B4-BE49-F238E27FC236}">
                    <a16:creationId xmlns:a16="http://schemas.microsoft.com/office/drawing/2014/main" id="{F8E4F2FD-4ECB-5A3A-4E6E-1619A2A7E8AF}"/>
                  </a:ext>
                </a:extLst>
              </p:cNvPr>
              <p:cNvSpPr/>
              <p:nvPr/>
            </p:nvSpPr>
            <p:spPr>
              <a:xfrm>
                <a:off x="0" y="0"/>
                <a:ext cx="4123742" cy="2003902"/>
              </a:xfrm>
              <a:custGeom>
                <a:avLst/>
                <a:gdLst/>
                <a:ahLst/>
                <a:cxnLst/>
                <a:rect l="l" t="t" r="r" b="b"/>
                <a:pathLst>
                  <a:path w="4123742" h="2003902" extrusionOk="0">
                    <a:moveTo>
                      <a:pt x="0" y="0"/>
                    </a:moveTo>
                    <a:lnTo>
                      <a:pt x="4123742" y="0"/>
                    </a:lnTo>
                    <a:lnTo>
                      <a:pt x="4123742" y="2003902"/>
                    </a:lnTo>
                    <a:lnTo>
                      <a:pt x="0" y="200390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 cmpd="sng">
                <a:solidFill>
                  <a:srgbClr val="71CBE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Google Shape;85;p12">
                <a:extLst>
                  <a:ext uri="{FF2B5EF4-FFF2-40B4-BE49-F238E27FC236}">
                    <a16:creationId xmlns:a16="http://schemas.microsoft.com/office/drawing/2014/main" id="{3F9F3CCD-29FD-F0A4-A3AC-CE07BB1CD30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50" y="995362"/>
            <a:ext cx="15278100" cy="829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463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25" y="376237"/>
            <a:ext cx="14306550" cy="953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2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25" y="476529"/>
            <a:ext cx="5900300" cy="41649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25" y="4927670"/>
            <a:ext cx="5900300" cy="4673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1860" y="476529"/>
            <a:ext cx="4742140" cy="691124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0748" y="7583198"/>
            <a:ext cx="5434991" cy="201767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14540" y="610507"/>
            <a:ext cx="5600700" cy="798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257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293" y="549049"/>
            <a:ext cx="9872764" cy="78253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901293" y="8779079"/>
            <a:ext cx="997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D8DEE9"/>
                </a:solidFill>
                <a:latin typeface="Candara" panose="020E0502030303020204" pitchFamily="34" charset="0"/>
              </a:rPr>
              <a:t>The Random Forest Regressor emerged as the best performer with an R² score of 0.161, significantly outperforming the linear models and showing the importance of capturing non-linear relationships in music popularity prediction.</a:t>
            </a:r>
          </a:p>
        </p:txBody>
      </p:sp>
    </p:spTree>
    <p:extLst>
      <p:ext uri="{BB962C8B-B14F-4D97-AF65-F5344CB8AC3E}">
        <p14:creationId xmlns:p14="http://schemas.microsoft.com/office/powerpoint/2010/main" val="730656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929" y="971550"/>
            <a:ext cx="5867400" cy="7734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614" y="1449160"/>
            <a:ext cx="9038772" cy="677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962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99">
          <a:extLst>
            <a:ext uri="{FF2B5EF4-FFF2-40B4-BE49-F238E27FC236}">
              <a16:creationId xmlns:a16="http://schemas.microsoft.com/office/drawing/2014/main" id="{0538D4D3-2DFC-533E-EF13-51474601C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>
            <a:extLst>
              <a:ext uri="{FF2B5EF4-FFF2-40B4-BE49-F238E27FC236}">
                <a16:creationId xmlns:a16="http://schemas.microsoft.com/office/drawing/2014/main" id="{F135CFE6-A67F-D9FD-3D16-FC5644C7D25D}"/>
              </a:ext>
            </a:extLst>
          </p:cNvPr>
          <p:cNvSpPr txBox="1"/>
          <p:nvPr/>
        </p:nvSpPr>
        <p:spPr>
          <a:xfrm>
            <a:off x="1604058" y="2134590"/>
            <a:ext cx="1445554" cy="1376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0F1A38"/>
                </a:solidFill>
                <a:latin typeface="Archivo Black"/>
                <a:ea typeface="Archivo Black"/>
                <a:cs typeface="Archivo Black"/>
                <a:sym typeface="Archivo Black"/>
              </a:rPr>
              <a:t>1</a:t>
            </a:r>
            <a:endParaRPr/>
          </a:p>
        </p:txBody>
      </p:sp>
      <p:grpSp>
        <p:nvGrpSpPr>
          <p:cNvPr id="3" name="Google Shape;79;p12">
            <a:extLst>
              <a:ext uri="{FF2B5EF4-FFF2-40B4-BE49-F238E27FC236}">
                <a16:creationId xmlns:a16="http://schemas.microsoft.com/office/drawing/2014/main" id="{08D641C7-A103-6298-0939-135B82DF26E1}"/>
              </a:ext>
            </a:extLst>
          </p:cNvPr>
          <p:cNvGrpSpPr/>
          <p:nvPr/>
        </p:nvGrpSpPr>
        <p:grpSpPr>
          <a:xfrm>
            <a:off x="602517" y="-436206"/>
            <a:ext cx="17125646" cy="11159412"/>
            <a:chOff x="0" y="-241102"/>
            <a:chExt cx="22361444" cy="11698677"/>
          </a:xfrm>
        </p:grpSpPr>
        <p:grpSp>
          <p:nvGrpSpPr>
            <p:cNvPr id="4" name="Google Shape;80;p12">
              <a:extLst>
                <a:ext uri="{FF2B5EF4-FFF2-40B4-BE49-F238E27FC236}">
                  <a16:creationId xmlns:a16="http://schemas.microsoft.com/office/drawing/2014/main" id="{B903CC1E-46BD-72CD-2B84-5EEBAB0BD672}"/>
                </a:ext>
              </a:extLst>
            </p:cNvPr>
            <p:cNvGrpSpPr/>
            <p:nvPr/>
          </p:nvGrpSpPr>
          <p:grpSpPr>
            <a:xfrm>
              <a:off x="0" y="-241102"/>
              <a:ext cx="22361444" cy="11698677"/>
              <a:chOff x="0" y="-47625"/>
              <a:chExt cx="4417075" cy="2310850"/>
            </a:xfrm>
          </p:grpSpPr>
          <p:sp>
            <p:nvSpPr>
              <p:cNvPr id="8" name="Google Shape;81;p12">
                <a:extLst>
                  <a:ext uri="{FF2B5EF4-FFF2-40B4-BE49-F238E27FC236}">
                    <a16:creationId xmlns:a16="http://schemas.microsoft.com/office/drawing/2014/main" id="{F2EA7254-0F00-6FBF-68A0-7E2D34760CDC}"/>
                  </a:ext>
                </a:extLst>
              </p:cNvPr>
              <p:cNvSpPr/>
              <p:nvPr/>
            </p:nvSpPr>
            <p:spPr>
              <a:xfrm>
                <a:off x="0" y="0"/>
                <a:ext cx="4417075" cy="2263225"/>
              </a:xfrm>
              <a:custGeom>
                <a:avLst/>
                <a:gdLst/>
                <a:ahLst/>
                <a:cxnLst/>
                <a:rect l="l" t="t" r="r" b="b"/>
                <a:pathLst>
                  <a:path w="4417075" h="2263225" extrusionOk="0">
                    <a:moveTo>
                      <a:pt x="0" y="0"/>
                    </a:moveTo>
                    <a:lnTo>
                      <a:pt x="4417075" y="0"/>
                    </a:lnTo>
                    <a:lnTo>
                      <a:pt x="4417075" y="2263225"/>
                    </a:lnTo>
                    <a:lnTo>
                      <a:pt x="0" y="2263225"/>
                    </a:lnTo>
                    <a:close/>
                  </a:path>
                </a:pathLst>
              </a:custGeom>
              <a:solidFill>
                <a:srgbClr val="0F1A38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Google Shape;82;p12">
                <a:extLst>
                  <a:ext uri="{FF2B5EF4-FFF2-40B4-BE49-F238E27FC236}">
                    <a16:creationId xmlns:a16="http://schemas.microsoft.com/office/drawing/2014/main" id="{D9619CAD-9A49-7C6F-B24B-7FBBE14F0E3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" name="Google Shape;83;p12">
              <a:extLst>
                <a:ext uri="{FF2B5EF4-FFF2-40B4-BE49-F238E27FC236}">
                  <a16:creationId xmlns:a16="http://schemas.microsoft.com/office/drawing/2014/main" id="{F46D0439-3A54-928D-42E6-898F91C4034F}"/>
                </a:ext>
              </a:extLst>
            </p:cNvPr>
            <p:cNvGrpSpPr/>
            <p:nvPr/>
          </p:nvGrpSpPr>
          <p:grpSpPr>
            <a:xfrm>
              <a:off x="698199" y="414054"/>
              <a:ext cx="20876442" cy="10385854"/>
              <a:chOff x="0" y="-47625"/>
              <a:chExt cx="4123742" cy="2051527"/>
            </a:xfrm>
          </p:grpSpPr>
          <p:sp>
            <p:nvSpPr>
              <p:cNvPr id="6" name="Google Shape;84;p12">
                <a:extLst>
                  <a:ext uri="{FF2B5EF4-FFF2-40B4-BE49-F238E27FC236}">
                    <a16:creationId xmlns:a16="http://schemas.microsoft.com/office/drawing/2014/main" id="{ED1D69B3-2F7D-8B49-0DB3-46E2D495BF26}"/>
                  </a:ext>
                </a:extLst>
              </p:cNvPr>
              <p:cNvSpPr/>
              <p:nvPr/>
            </p:nvSpPr>
            <p:spPr>
              <a:xfrm>
                <a:off x="0" y="0"/>
                <a:ext cx="4123742" cy="2003902"/>
              </a:xfrm>
              <a:custGeom>
                <a:avLst/>
                <a:gdLst/>
                <a:ahLst/>
                <a:cxnLst/>
                <a:rect l="l" t="t" r="r" b="b"/>
                <a:pathLst>
                  <a:path w="4123742" h="2003902" extrusionOk="0">
                    <a:moveTo>
                      <a:pt x="0" y="0"/>
                    </a:moveTo>
                    <a:lnTo>
                      <a:pt x="4123742" y="0"/>
                    </a:lnTo>
                    <a:lnTo>
                      <a:pt x="4123742" y="2003902"/>
                    </a:lnTo>
                    <a:lnTo>
                      <a:pt x="0" y="200390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 cmpd="sng">
                <a:solidFill>
                  <a:srgbClr val="71CBE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Google Shape;85;p12">
                <a:extLst>
                  <a:ext uri="{FF2B5EF4-FFF2-40B4-BE49-F238E27FC236}">
                    <a16:creationId xmlns:a16="http://schemas.microsoft.com/office/drawing/2014/main" id="{5E8B121A-159B-5A47-8432-02490714BB6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" name="Google Shape;92;p12">
            <a:extLst>
              <a:ext uri="{FF2B5EF4-FFF2-40B4-BE49-F238E27FC236}">
                <a16:creationId xmlns:a16="http://schemas.microsoft.com/office/drawing/2014/main" id="{5708E075-9EE8-71F8-330A-90926DF27AF4}"/>
              </a:ext>
            </a:extLst>
          </p:cNvPr>
          <p:cNvSpPr txBox="1"/>
          <p:nvPr/>
        </p:nvSpPr>
        <p:spPr>
          <a:xfrm>
            <a:off x="1162415" y="3948892"/>
            <a:ext cx="15769541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dirty="0">
                <a:solidFill>
                  <a:srgbClr val="FFFFFF"/>
                </a:solidFill>
                <a:latin typeface="Archivo Black"/>
                <a:sym typeface="Archivo Black"/>
              </a:rPr>
              <a:t>Thank You!</a:t>
            </a:r>
            <a:endParaRPr sz="12000" dirty="0"/>
          </a:p>
        </p:txBody>
      </p:sp>
    </p:spTree>
    <p:extLst>
      <p:ext uri="{BB962C8B-B14F-4D97-AF65-F5344CB8AC3E}">
        <p14:creationId xmlns:p14="http://schemas.microsoft.com/office/powerpoint/2010/main" val="3710096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yber-Futuristic AI Technology Thesis Defense">
  <a:themeElements>
    <a:clrScheme name="Office">
      <a:dk1>
        <a:srgbClr val="0F1A38"/>
      </a:dk1>
      <a:lt1>
        <a:srgbClr val="FFFFFF"/>
      </a:lt1>
      <a:dk2>
        <a:srgbClr val="2D5B8F"/>
      </a:dk2>
      <a:lt2>
        <a:srgbClr val="71CBEF"/>
      </a:lt2>
      <a:accent1>
        <a:srgbClr val="0F1A38"/>
      </a:accent1>
      <a:accent2>
        <a:srgbClr val="2D5B8F"/>
      </a:accent2>
      <a:accent3>
        <a:srgbClr val="71CBEF"/>
      </a:accent3>
      <a:accent4>
        <a:srgbClr val="888888"/>
      </a:accent4>
      <a:accent5>
        <a:srgbClr val="FFFFFF"/>
      </a:accent5>
      <a:accent6>
        <a:srgbClr val="2D5B8F"/>
      </a:accent6>
      <a:hlink>
        <a:srgbClr val="FFFF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286</Words>
  <Application>Microsoft Office PowerPoint</Application>
  <PresentationFormat>Custom</PresentationFormat>
  <Paragraphs>51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Archivo Black</vt:lpstr>
      <vt:lpstr>Calibri</vt:lpstr>
      <vt:lpstr>Noto Sans</vt:lpstr>
      <vt:lpstr>Candara</vt:lpstr>
      <vt:lpstr>Arial</vt:lpstr>
      <vt:lpstr>Cyber-Futuristic AI Technology Thesis Defense</vt:lpstr>
      <vt:lpstr>PowerPoint Presentation</vt:lpstr>
      <vt:lpstr>PowerPoint Presentation</vt:lpstr>
      <vt:lpstr>Regression Models Implemented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Admin</cp:lastModifiedBy>
  <cp:revision>59</cp:revision>
  <dcterms:modified xsi:type="dcterms:W3CDTF">2025-08-09T16:01:23Z</dcterms:modified>
</cp:coreProperties>
</file>